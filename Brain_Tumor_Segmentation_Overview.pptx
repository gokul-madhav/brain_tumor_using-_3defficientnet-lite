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BraTS2021 3D Brain Tumor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DF2"/>
                </a:solidFill>
              </a:defRPr>
            </a:pPr>
            <a:r>
              <a:t>Deep Learning Pipeline for Automated MRI Tumor Delineation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FB4D8"/>
                </a:solidFill>
              </a:defRPr>
            </a:pPr>
            <a:r>
              <a:t>Project Overview — Client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>
                <a:solidFill>
                  <a:srgbClr val="222733"/>
                </a:solidFill>
              </a:rPr>
              <a:t>This project develops a fully automated deep learning system for 3D brain tumor segmentation from multi-modal MRI scans, using the BraTS2021 dataset of 1,251 patient cases. The proposed model combines a lightweight 3D EfficientNet-Lite encoder with a true nnU-Net-style decoder, enhanced with deep supervision, attention gates, and squeeze-and-excitation blocks, engineered specifically to train within a constrained 6GB consumer GPU.
The system currently achieves a mean Dice score of 0.78 (78%), with a defined path to the target of 0.85 (85%) mean Dice, matching clinical-grade segmentation quality while remaining deployable on affordable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Brain tumors, including gliomas, require precise 3D delineation of tumor sub-regions from MRI for diagnosis, treatment planning, and monitoring.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Manual segmentation by radiologists is the current clinical standard but is time-consuming, requires specialist expertise, and suffers from inter-observer variability.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Each MRI study involves 4 complementary modalities (T1, T1ce, T2, FLAIR) that must be jointly interpreted in 3D — a cognitively demanding task even for trained clinicians.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This project automates that process end-to-end: from raw NIfTI MRI volumes to a voxel-wise 4-class tumor segmentation map, using a deep 3D convolutional neural network trained on a large public clinical dataset.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Goal: reduce segmentation time from hours to seconds while maintaining Dice accuracy competitive with expert human annotation.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Existing Systems vs Proposed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087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507992"/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Existing Approach</a:t>
                      </a:r>
                    </a:p>
                  </a:txBody>
                  <a:tcPr anchor="ctr" marL="109728" marR="109728" marT="54864" marB="54864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 anchor="ctr" marL="109728" marR="109728" marT="54864" marB="54864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Proposed System Improvement</a:t>
                      </a:r>
                    </a:p>
                  </a:txBody>
                  <a:tcPr anchor="ctr" marL="109728" marR="109728" marT="54864" marB="54864">
                    <a:solidFill>
                      <a:srgbClr val="1F3B73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Manual radiologist segmentation</a:t>
                      </a:r>
                    </a:p>
                  </a:txBody>
                  <a:tcPr anchor="ctr" marL="109728" marR="109728" marT="54864" marB="5486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Hours per case; subjective, inter-observer variability</a:t>
                      </a:r>
                    </a:p>
                  </a:txBody>
                  <a:tcPr anchor="ctr" marL="109728" marR="109728" marT="54864" marB="5486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Seconds per case; fully reproducible output</a:t>
                      </a:r>
                    </a:p>
                  </a:txBody>
                  <a:tcPr anchor="ctr" marL="109728" marR="109728" marT="54864" marB="54864">
                    <a:solidFill>
                      <a:srgbClr val="EAF0FA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Classical image processing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(thresholding, region growing, atlas-based)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Fixed rules fail on irregular real tumor shapes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Learns tumor appearance from 1,251 labeled cases; generalizes across patients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2D slice-wise CNN segmentation</a:t>
                      </a:r>
                    </a:p>
                  </a:txBody>
                  <a:tcPr anchor="ctr" marL="109728" marR="109728" marT="54864" marB="5486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Loses full 3D spatial context between slices</a:t>
                      </a:r>
                    </a:p>
                  </a:txBody>
                  <a:tcPr anchor="ctr" marL="109728" marR="109728" marT="54864" marB="54864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Uses full 3D volumetric context for continuous tumor boundaries</a:t>
                      </a:r>
                    </a:p>
                  </a:txBody>
                  <a:tcPr anchor="ctr" marL="109728" marR="109728" marT="54864" marB="54864">
                    <a:solidFill>
                      <a:srgbClr val="EAF0FA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Standard 3D U-Net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Memory-hungry; typically needs 12GB+ VRAM GPUs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733"/>
                          </a:solidFill>
                        </a:rPr>
                        <a:t>EfficientNet-Lite encoder + mixed precision + gradient checkpointing runs on a single 6GB GPU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Architecture</a:t>
            </a:r>
            <a:r>
              <a:rPr sz="1550">
                <a:solidFill>
                  <a:srgbClr val="222733"/>
                </a:solidFill>
              </a:rPr>
              <a:t> — EfficientNetLite3DUNet — a 3D EfficientNet-Lite encoder paired with a true nnU-Net-style decoder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Encoder</a:t>
            </a:r>
            <a:r>
              <a:rPr sz="1550">
                <a:solidFill>
                  <a:srgbClr val="222733"/>
                </a:solidFill>
              </a:rPr>
              <a:t> — 5-stage 3D EfficientNet-Lite with residual MBConv blocks, Squeeze-and-Excitation (SE) attention, InstanceNorm3d, and stochastic depth (DropPath); ~10.6 million parameters total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Decoder</a:t>
            </a:r>
            <a:r>
              <a:rPr sz="1550">
                <a:solidFill>
                  <a:srgbClr val="222733"/>
                </a:solidFill>
              </a:rPr>
              <a:t> — nnU-Net-style upsampling path with additive attention gates on every skip connection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Deep supervision</a:t>
            </a:r>
            <a:r>
              <a:rPr sz="1550">
                <a:solidFill>
                  <a:srgbClr val="222733"/>
                </a:solidFill>
              </a:rPr>
              <a:t> — auxiliary segmentation heads at three decoder resolutions (1/4, 1/8, 1/16 scale) accelerate convergence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Training recipe</a:t>
            </a:r>
            <a:r>
              <a:rPr sz="1550">
                <a:solidFill>
                  <a:srgbClr val="222733"/>
                </a:solidFill>
              </a:rPr>
              <a:t> — SGD + Nesterov momentum (0.99), polynomial LR decay, combined Dice + Cross-Entropy loss, mixed precision (AMP), gradient checkpointing — all tuned for a 6GB GPU budget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Checkpoint-resume</a:t>
            </a:r>
            <a:r>
              <a:rPr sz="1550">
                <a:solidFill>
                  <a:srgbClr val="222733"/>
                </a:solidFill>
              </a:rPr>
              <a:t> — training can run across multiple sessions/days without losing progress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50">
                <a:solidFill>
                  <a:srgbClr val="2E86C1"/>
                </a:solidFill>
              </a:rPr>
              <a:t>•  Current status</a:t>
            </a:r>
            <a:r>
              <a:rPr sz="1550">
                <a:solidFill>
                  <a:srgbClr val="222733"/>
                </a:solidFill>
              </a:rPr>
              <a:t> — best validation Dice score of 0.78 (78%) after 35 training epochs, target 0.85 (85%)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417320" cy="960120"/>
          </a:xfrm>
          <a:prstGeom prst="roundRect">
            <a:avLst/>
          </a:prstGeom>
          <a:solidFill>
            <a:srgbClr val="1F3B73"/>
          </a:solidFill>
          <a:ln w="9525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Input
4-channel MRI
(T1, T1ce, T2, FLAIR)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1920240"/>
            <a:ext cx="1783080" cy="960120"/>
          </a:xfrm>
          <a:prstGeom prst="roundRect">
            <a:avLst/>
          </a:prstGeom>
          <a:solidFill>
            <a:srgbClr val="2E86C1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Encoder
5 MBConv stages
+ SE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5384" y="1920240"/>
            <a:ext cx="1417320" cy="960120"/>
          </a:xfrm>
          <a:prstGeom prst="roundRect">
            <a:avLst/>
          </a:prstGeom>
          <a:solidFill>
            <a:srgbClr val="5DA9E0"/>
          </a:solidFill>
          <a:ln w="9525">
            <a:solidFill>
              <a:srgbClr val="5D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Bottleneck
deepest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88736" y="1920240"/>
            <a:ext cx="1783080" cy="960120"/>
          </a:xfrm>
          <a:prstGeom prst="roundRect">
            <a:avLst/>
          </a:prstGeom>
          <a:solidFill>
            <a:srgbClr val="2E86C1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Decoder
4 stages + attention
gates on skip conns.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7848" y="1920240"/>
            <a:ext cx="1600200" cy="960120"/>
          </a:xfrm>
          <a:prstGeom prst="roundRect">
            <a:avLst/>
          </a:prstGeom>
          <a:solidFill>
            <a:srgbClr val="1F3B73"/>
          </a:solidFill>
          <a:ln w="9525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Output
4-class voxel mask
(BG, NCR, ED, ET)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400300"/>
            <a:ext cx="256032" cy="0"/>
          </a:xfrm>
          <a:prstGeom prst="line">
            <a:avLst/>
          </a:prstGeom>
          <a:ln w="28575">
            <a:solidFill>
              <a:srgbClr val="1F3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59352" y="2400300"/>
            <a:ext cx="256032" cy="0"/>
          </a:xfrm>
          <a:prstGeom prst="line">
            <a:avLst/>
          </a:prstGeom>
          <a:ln w="28575">
            <a:solidFill>
              <a:srgbClr val="1F3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32704" y="2400300"/>
            <a:ext cx="256032" cy="0"/>
          </a:xfrm>
          <a:prstGeom prst="line">
            <a:avLst/>
          </a:prstGeom>
          <a:ln w="28575">
            <a:solidFill>
              <a:srgbClr val="1F3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71816" y="2400300"/>
            <a:ext cx="256032" cy="0"/>
          </a:xfrm>
          <a:prstGeom prst="line">
            <a:avLst/>
          </a:prstGeom>
          <a:ln w="28575">
            <a:solidFill>
              <a:srgbClr val="1F3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06324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B6B"/>
                </a:solidFill>
              </a:rPr>
              <a:t>Skip connections carry encoder feature maps forward into each matching decoder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836" y="3703320"/>
            <a:ext cx="1463040" cy="685800"/>
          </a:xfrm>
          <a:prstGeom prst="roundRect">
            <a:avLst/>
          </a:prstGeom>
          <a:solidFill>
            <a:srgbClr val="9AA5B8"/>
          </a:solidFill>
          <a:ln w="9525">
            <a:solidFill>
              <a:srgbClr val="9A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Deep Sup.
Head (1/4 res)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8756" y="3703320"/>
            <a:ext cx="1463040" cy="685800"/>
          </a:xfrm>
          <a:prstGeom prst="roundRect">
            <a:avLst/>
          </a:prstGeom>
          <a:solidFill>
            <a:srgbClr val="9AA5B8"/>
          </a:solidFill>
          <a:ln w="9525">
            <a:solidFill>
              <a:srgbClr val="9A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Deep Sup.
Head (1/8 res)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4676" y="3703320"/>
            <a:ext cx="1463040" cy="685800"/>
          </a:xfrm>
          <a:prstGeom prst="roundRect">
            <a:avLst/>
          </a:prstGeom>
          <a:solidFill>
            <a:srgbClr val="9AA5B8"/>
          </a:solidFill>
          <a:ln w="9525">
            <a:solidFill>
              <a:srgbClr val="9A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Deep Sup.
Head (1/16 res)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0276" y="2880360"/>
            <a:ext cx="0" cy="822960"/>
          </a:xfrm>
          <a:prstGeom prst="line">
            <a:avLst/>
          </a:prstGeom>
          <a:ln w="19050">
            <a:solidFill>
              <a:srgbClr val="9AA5B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457200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B6B"/>
                </a:solidFill>
              </a:rPr>
              <a:t>Deep supervision heads are used only during training and are dropped for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22733"/>
                </a:solidFill>
              </a:rPr>
              <a:t>Data flow: MRI volume enters the encoder, which progressively downsamples and extracts multi-scale features via 5 MBConv stages, saving a skip connection at each stage. The decoder upsamples back to full resolution across 4 stages, fusing each skip connection through an attention gate, and the final segmentation head outputs the 4-class voxel mask.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00">
                <a:solidFill>
                  <a:srgbClr val="2E86C1"/>
                </a:solidFill>
              </a:rPr>
              <a:t>•  BraTS2021</a:t>
            </a:r>
            <a:r>
              <a:rPr sz="1600">
                <a:solidFill>
                  <a:srgbClr val="222733"/>
                </a:solidFill>
              </a:rPr>
              <a:t> — Brain Tumor Segmentation Challenge 2021 — a public, expert-annotated clinical MRI dataset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00">
                <a:solidFill>
                  <a:srgbClr val="2E86C1"/>
                </a:solidFill>
              </a:rPr>
              <a:t>•  Scale</a:t>
            </a:r>
            <a:r>
              <a:rPr sz="1600">
                <a:solidFill>
                  <a:srgbClr val="222733"/>
                </a:solidFill>
              </a:rPr>
              <a:t> — 1,251 patient cases, each with 4 co-registered, skull-stripped MRI modalities: T1-weighted, T1-weighted contrast-enhanced (T1ce), T2-weighted, and T2-FLAIR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00">
                <a:solidFill>
                  <a:srgbClr val="2E86C1"/>
                </a:solidFill>
              </a:rPr>
              <a:t>•  Ground truth</a:t>
            </a:r>
            <a:r>
              <a:rPr sz="1600">
                <a:solidFill>
                  <a:srgbClr val="222733"/>
                </a:solidFill>
              </a:rPr>
              <a:t> — each case includes a voxel-wise segmentation map manually annotated and approved by expert neuroradiologists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00">
                <a:solidFill>
                  <a:srgbClr val="2E86C1"/>
                </a:solidFill>
              </a:rPr>
              <a:t>•  Volume geometry</a:t>
            </a:r>
            <a:r>
              <a:rPr sz="1600">
                <a:solidFill>
                  <a:srgbClr val="222733"/>
                </a:solidFill>
              </a:rPr>
              <a:t> — original volumes are 240 x 240 x 155 voxels, 1mm isotropic resolution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00">
                <a:solidFill>
                  <a:srgbClr val="2E86C1"/>
                </a:solidFill>
              </a:rPr>
              <a:t>•  Label scheme</a:t>
            </a:r>
            <a:r>
              <a:rPr sz="1600">
                <a:solidFill>
                  <a:srgbClr val="222733"/>
                </a:solidFill>
              </a:rPr>
              <a:t> — remapped to 4 classes for training — 0: Background, 1: Necrotic Tumor Core (NCR), 2: Peritumoral Edema (ED), 3: Enhancing Tumor (ET)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00">
                <a:solidFill>
                  <a:srgbClr val="2E86C1"/>
                </a:solidFill>
              </a:rPr>
              <a:t>•  Split &amp; augmentation</a:t>
            </a:r>
            <a:r>
              <a:rPr sz="1600">
                <a:solidFill>
                  <a:srgbClr val="222733"/>
                </a:solidFill>
              </a:rPr>
              <a:t> — 80% training / 20% validation split; intensity normalization plus flips, rotations, intensity jitter, and Gaussian noise applied during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A complete, end-to-end 3D brain tumor segmentation pipeline has been built and validated on the BraTS2021 dataset, from raw MRI ingestion through training, evaluation, and inference.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The proposed EfficientNetLite3DUNet architecture demonstrates that clinically relevant segmentation accuracy is achievable on affordable, consumer-grade GPU hardware, removing a key cost barrier to adoption.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Current best result: 0.78 mean Dice score, approaching the 0.85 target, with a clear, well-understood path to close the remaining gap.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222733"/>
                </a:solidFill>
              </a:rPr>
              <a:t>•  The system already supports checkpoint-resume training, evaluation with Dice and Hausdorff95 metrics, single-case inference with visualization, and export to TorchScript/ONNX for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</a:rPr>
              <a:t>•  Extend training duration (200-300 epochs) using the existing checkpoint-resume capability to allow the model to fully converge.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</a:rPr>
              <a:t>•  Move from whole-volume resizing to full-resolution patch-based training with sliding-window inference, preserving fine anatomical detail for small tumor sub-regions.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</a:rPr>
              <a:t>•  Add test-time augmentation and 5-fold cross-validation ensembling to boost robustness and accuracy, following established nnU-Net practice.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</a:rPr>
              <a:t>•  Apply post-processing (small connected-component removal) to clean up predicted segmentation masks.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</a:rPr>
              <a:t>•  Package the trained model into a clinical-facing tool: ONNX/TensorRT export already supported for fast inference; next step is a simple upload-and-visualize interface for clinicians.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</a:rPr>
              <a:t>•  Explore extending the pipeline to additional tumor types and multi-institution datasets for broader generalization.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73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</a:rPr>
              <a:t>•  Baid, U. et al. "The RSNA-ASNR-MICCAI BraTS 2021 Benchmark on Brain Tumor Segmentation and Radiogenomic Classification." arXiv:2107.02314.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</a:rPr>
              <a:t>•  Isensee, F. et al. "nnU-Net: a self-configuring method for deep learning-based biomedical image segmentation." Nature Methods, 2021.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</a:rPr>
              <a:t>•  Tan, M. and Le, Q. "EfficientNet: Rethinking Model Scaling for Convolutional Neural Networks." ICML, 2019.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</a:rPr>
              <a:t>•  Oktay, O. et al. "Attention U-Net: Learning Where to Look for the Pancreas." arXiv:1804.03999.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</a:rPr>
              <a:t>•  MONAI Consortium. "MONAI: Medical Open Network for AI." https://monai.io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</a:rPr>
              <a:t>•  Paszke, A. et al. "PyTorch: An Imperative Style, High-Performance Deep Learning Library." NeurIPS, 2019.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555B6B"/>
                </a:solidFill>
              </a:defRPr>
            </a:pPr>
            <a:r>
              <a:t>Brain Tumor Segmentation — Project Overview</a:t>
            </a:r>
            <a:r>
              <a:rPr sz="1000">
                <a:solidFill>
                  <a:srgbClr val="555B6B"/>
                </a:solidFill>
              </a:rPr>
              <a:t>   |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